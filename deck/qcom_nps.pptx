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>
                <a:solidFill>
                  <a:srgbClr val="1F4E79"/>
                </a:solidFill>
              </a:rPr>
              <a:t>Blinkit leads Zepto by 34.5 NPS points in Jul to Sep 2026, and quality and freshness and missing or wrong items explain 10.3 of them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77777"/>
                </a:solidFill>
              </a:rPr>
              <a:t>Source: Google Play reviews, India, English, 1,112,946 reviews, Jan 2025 to Sep 2026; outputs/ in the repo.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</a:rPr>
              <a:t>NPS proxy, Jul to Sep 2026: Blinkit 44.4 (±0.5), Instamart 43.8 (±1.1), Zepto 10.0 (±1.3).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</a:rPr>
              <a:t>Of the 34.5 point gap, 14.2 comes from Blinkit's higher share of 5 star reviews and 20.3 from Zepto's heavier detractor complaints.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</a:rPr>
              <a:t>The biggest complaint gaps are quality and freshness (6.0 points), missing or wrong items (4.4) and support and rider behaviour (3.5).</a:t>
            </a:r>
          </a:p>
          <a:p>
            <a:pPr>
              <a:spcAft>
                <a:spcPts val="1000"/>
              </a:spcAft>
            </a:pPr>
            <a:r>
              <a:rPr sz="2200" b="0">
                <a:solidFill>
                  <a:srgbClr val="222222"/>
                </a:solidFill>
              </a:rPr>
              <a:t>The app ranking is the same in 7 of 7 quarters when 3 star reviews count as passive. The first place lead over second is only 0.7 points against a ±1.2 margin, so treat it as a tie.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>
                <a:solidFill>
                  <a:srgbClr val="1F4E79"/>
                </a:solidFill>
              </a:rPr>
              <a:t>Blinkit and Instamart stayed between 34 and 56 NPS points for 21 months while Zepto swung from -25 to 42 and ended at 7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77777"/>
                </a:solidFill>
              </a:rPr>
              <a:t>Source: Google Play reviews, India, English, 1,112,946 reviews, Jan 2025 to Sep 2026; outputs/ in the repo.</a:t>
            </a:r>
          </a:p>
        </p:txBody>
      </p:sp>
      <p:pic>
        <p:nvPicPr>
          <p:cNvPr id="5" name="Picture 4" descr="nps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1554480"/>
            <a:ext cx="9509760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>
                <a:solidFill>
                  <a:srgbClr val="1F4E79"/>
                </a:solidFill>
              </a:rPr>
              <a:t>Fees and prices lead the complaints at Blinkit (21%) and Instamart (26%), but quality and freshness lead at Zepto (21%)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77777"/>
                </a:solidFill>
              </a:rPr>
              <a:t>Source: Google Play reviews, India, English, 1,112,946 reviews, Jan 2025 to Sep 2026; outputs/ in the repo.</a:t>
            </a:r>
          </a:p>
        </p:txBody>
      </p:sp>
      <p:pic>
        <p:nvPicPr>
          <p:cNvPr id="5" name="Picture 4" descr="driver_mix_lat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554480"/>
            <a:ext cx="7863840" cy="46468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182880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</a:rPr>
              <a:t>Top three complaints by share of tagged detractors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</a:rPr>
              <a:t>Blinkit: fees and prices 21%, quality and freshness 13%, support and rider behaviour 12%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</a:rPr>
              <a:t>Instamart: fees and prices 26%, quality and freshness 13%, missing or wrong items 12%</a:t>
            </a:r>
          </a:p>
          <a:p>
            <a:pPr>
              <a:spcAft>
                <a:spcPts val="1000"/>
              </a:spcAft>
            </a:pPr>
            <a:r>
              <a:rPr sz="1500" b="0">
                <a:solidFill>
                  <a:srgbClr val="222222"/>
                </a:solidFill>
              </a:rPr>
              <a:t>Zepto: quality and freshness 21%, missing or wrong items 15%, support and rider behaviour 14%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>
                <a:solidFill>
                  <a:srgbClr val="1F4E79"/>
                </a:solidFill>
              </a:rPr>
              <a:t>Blinkit's 34.5 point lead over Zepto is 14.2 points of 5 star reviews, then 6.0 from quality and freshness and 4.4 from missing or wrong items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77777"/>
                </a:solidFill>
              </a:rPr>
              <a:t>Source: Google Play reviews, India, English, 1,112,946 reviews, Jan 2025 to Sep 2026; outputs/ in the repo.</a:t>
            </a:r>
          </a:p>
        </p:txBody>
      </p:sp>
      <p:pic>
        <p:nvPicPr>
          <p:cNvPr id="5" name="Picture 4" descr="waterf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54480"/>
            <a:ext cx="10515600" cy="48822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>
                <a:solidFill>
                  <a:srgbClr val="1F4E79"/>
                </a:solidFill>
              </a:rPr>
              <a:t>Fixing quality and freshness, missing or wrong items and support and rider behaviour at Zepto is worth up to 13.8 of the 34.5 NPS points to Blinkit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77777"/>
                </a:solidFill>
              </a:rPr>
              <a:t>Source: Google Play reviews, India, English, 1,112,946 reviews, Jan 2025 to Sep 2026; outputs/ in the repo.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400" b="1">
                <a:solidFill>
                  <a:srgbClr val="1F4E79"/>
                </a:solidFill>
              </a:rPr>
              <a:t>6.0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22222"/>
                </a:solidFill>
              </a:rPr>
              <a:t>Quality and freshness (±1.0)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747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</a:rPr>
              <a:t>1. Check expiry and condition of perishables at packing, and pull items that get repeat complaints.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79" y="17373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400" b="1">
                <a:solidFill>
                  <a:srgbClr val="1F4E79"/>
                </a:solidFill>
              </a:rPr>
              <a:t>4.4 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79" y="27432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22222"/>
                </a:solidFill>
              </a:rPr>
              <a:t>Missing or wrong items (±0.9)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79" y="34747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</a:rPr>
              <a:t>2. Add a pick and pack check, and require proof of drop before an order can be marked delivered.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9" y="1737360"/>
            <a:ext cx="3566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4400" b="1">
                <a:solidFill>
                  <a:srgbClr val="1F4E79"/>
                </a:solidFill>
              </a:rPr>
              <a:t>3.5 points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9" y="274320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000" b="1">
                <a:solidFill>
                  <a:srgbClr val="222222"/>
                </a:solidFill>
              </a:rPr>
              <a:t>Support and rider behaviour (±0.9)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9" y="3474720"/>
            <a:ext cx="3566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222222"/>
                </a:solidFill>
              </a:rPr>
              <a:t>3. Give a human agent path after the bot, shorten the first human reply, and coach riders on conduct.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57784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300" b="0">
                <a:solidFill>
                  <a:srgbClr val="777777"/>
                </a:solidFill>
              </a:rPr>
              <a:t>Points at stake are the extra NPS points Zepto loses to each driver compared with Blinkit in Jul to Sep 2026. Matching the leader's rate would recover them. The ± is sampling error from the tagged sample.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600" b="1">
                <a:solidFill>
                  <a:srgbClr val="1F4E79"/>
                </a:solidFill>
              </a:rPr>
              <a:t>The numbers are a review based proxy for NPS, tagged by a model and checked for consistency, not yet against human labels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11064240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000" b="0">
                <a:solidFill>
                  <a:srgbClr val="777777"/>
                </a:solidFill>
              </a:rPr>
              <a:t>Source: Google Play reviews, India, English, 1,112,946 reviews, Jan 2025 to Sep 2026; outputs/ in the repo.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F4E79"/>
                </a:solidFill>
              </a:rPr>
              <a:t>Method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600200"/>
            <a:ext cx="5303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2200" b="1">
                <a:solidFill>
                  <a:srgbClr val="1F4E79"/>
                </a:solidFill>
              </a:rPr>
              <a:t>Limitations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</a:rPr>
              <a:t>* Promoter 5 stars, passive 4, detractor 1 to 3. 1,112,946 reviews, 21 months.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</a:rPr>
              <a:t>* 21,000 detractor reviews (1,000 per app per quarter, 4 or more words) tagged to 8 complaint drivers by Claude in an interactive session.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</a:rPr>
              <a:t>* Two independent tagging passes agreed on 96% of 100 reviews (kappa 0.954).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</a:rPr>
              <a:t>* A keyword baseline agrees with the model tags on 52% (kappa 0.46).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2240280"/>
            <a:ext cx="53035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</a:rPr>
              <a:t>* Review based proxy, not survey NPS. Reviewers skew negative, so levels are not comparable with published NPS.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</a:rPr>
              <a:t>* Play Store and English only.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</a:rPr>
              <a:t>* Agreement between tagging passes shows the rules are clear, not that the tags are right.</a:t>
            </a:r>
          </a:p>
          <a:p>
            <a:pPr>
              <a:spcAft>
                <a:spcPts val="1000"/>
              </a:spcAft>
            </a:pPr>
            <a:r>
              <a:rPr sz="1600" b="0">
                <a:solidFill>
                  <a:srgbClr val="222222"/>
                </a:solidFill>
              </a:rPr>
              <a:t>* Driver bars carry up to ±1.0 points of sampling error. Blinkit's lead over second place is inside its margin.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