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0" y="685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7D6D6"/>
                </a:solidFill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12801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</a:rPr>
              <a:t>1,112,946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2148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7D6D6"/>
                </a:solidFill>
              </a:rPr>
              <a:t>public reviews, Jan 2025 to Sep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8595360" y="3017520"/>
            <a:ext cx="3108960" cy="13716"/>
          </a:xfrm>
          <a:prstGeom prst="rect">
            <a:avLst/>
          </a:prstGeom>
          <a:solidFill>
            <a:srgbClr val="F7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3063239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</a:rPr>
              <a:t>21,000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39319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7D6D6"/>
                </a:solidFill>
              </a:rPr>
              <a:t>detractor reviews tagged to 8 complaint drivers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4800600"/>
            <a:ext cx="3108960" cy="13716"/>
          </a:xfrm>
          <a:prstGeom prst="rect">
            <a:avLst/>
          </a:prstGeom>
          <a:solidFill>
            <a:srgbClr val="F7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484632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</a:rPr>
              <a:t>34.5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57150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7D6D6"/>
                </a:solidFill>
              </a:rPr>
              <a:t>NPS gap, Blinkit vs Zepto, Jul to Sep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914400"/>
            <a:ext cx="822960" cy="8229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097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C0000"/>
                </a:solidFill>
              </a:rPr>
              <a:t>CASE STUDY  |  QUICK COMMERCE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508760"/>
            <a:ext cx="7223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600" b="1">
                <a:solidFill>
                  <a:srgbClr val="1A1A1A"/>
                </a:solidFill>
              </a:rPr>
              <a:t>Quick-Commerce</a:t>
            </a:r>
          </a:p>
          <a:p>
            <a:pPr>
              <a:spcAft>
                <a:spcPts val="800"/>
              </a:spcAft>
            </a:pPr>
            <a:r>
              <a:rPr sz="4600" b="1">
                <a:solidFill>
                  <a:srgbClr val="1A1A1A"/>
                </a:solidFill>
              </a:rPr>
              <a:t>NPS Benchmark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8328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6B6B6B"/>
                </a:solidFill>
              </a:rPr>
              <a:t>What 1.1 million Google Play reviews say about Blinkit, Zepto and Swiggy Instamart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6B6B6B"/>
                </a:solidFill>
              </a:rPr>
              <a:t>APPS COMPARED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6B6B6B"/>
                </a:solidFill>
              </a:rPr>
              <a:t>DATA SOURCE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4754880"/>
            <a:ext cx="13716" cy="12801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blink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754880"/>
            <a:ext cx="960120" cy="9601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5760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6B6B6B"/>
                </a:solidFill>
              </a:rPr>
              <a:t>Blinkit</a:t>
            </a:r>
          </a:p>
        </p:txBody>
      </p:sp>
      <p:pic>
        <p:nvPicPr>
          <p:cNvPr id="21" name="Picture 20" descr="zep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4754880"/>
            <a:ext cx="960120" cy="9601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74519" y="5760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6B6B6B"/>
                </a:solidFill>
              </a:rPr>
              <a:t>Zepto</a:t>
            </a:r>
          </a:p>
        </p:txBody>
      </p:sp>
      <p:pic>
        <p:nvPicPr>
          <p:cNvPr id="23" name="Picture 22" descr="instam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4754880"/>
            <a:ext cx="960120" cy="9601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08960" y="5760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6B6B6B"/>
                </a:solidFill>
              </a:rPr>
              <a:t>Instamart</a:t>
            </a:r>
          </a:p>
        </p:txBody>
      </p:sp>
      <p:pic>
        <p:nvPicPr>
          <p:cNvPr id="25" name="Picture 24" descr="googlepl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4754880"/>
            <a:ext cx="869543" cy="9601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120640" y="5760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6B6B6B"/>
                </a:solidFill>
              </a:rPr>
              <a:t>Google Play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</a:rPr>
              <a:t>Sri Kaasyap Vepa  |  A review based NPS proxy with a 95% margin of error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C0000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</a:rPr>
              <a:t>Blinkit leads Zepto by 34.5 NPS points in Jul to Sep 2026, and quality and freshness and missing or wrong items explain 10.3 of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link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83080" y="17556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</a:rPr>
              <a:t>Blinkit, Jul to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1031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CC0000"/>
                </a:solidFill>
              </a:rPr>
              <a:t>44.4 (±0.5)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nstam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1874519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32120" y="17556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</a:rPr>
              <a:t>Instamart, Jul to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21031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CC0000"/>
                </a:solidFill>
              </a:rPr>
              <a:t>43.8 (±1.1)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6916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zep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1874519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281160" y="17556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</a:rPr>
              <a:t>Zepto, Jul to Sep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1031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CC0000"/>
                </a:solidFill>
              </a:rPr>
              <a:t>10.0 (±1.3)</a:t>
            </a:r>
          </a:p>
        </p:txBody>
      </p:sp>
      <p:pic>
        <p:nvPicPr>
          <p:cNvPr id="20" name="Picture 19" descr="deck_la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108960"/>
            <a:ext cx="5669280" cy="33661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75120" y="320040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</a:rPr>
              <a:t>The 34.5 point gap: 14.2 from more 5 star reviews at Blinkit, 20.3 from heavier complaints at Zepto.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</a:rPr>
              <a:t>Biggest complaint gaps: quality and freshness 6.0, missing or wrong items 4.4, support and rider behaviour 3.5 points.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</a:rPr>
              <a:t>The ranking holds in 7 of 7 quarters when 3 stars count as passive. First place leads by 0.7 points against ±1.2, so treat it as a tie.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C0000"/>
                </a:solidFill>
              </a:rPr>
              <a:t>NPS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</a:rPr>
              <a:t>Blinkit and Instamart stayed between 34 and 56 NPS points for 21 months while Zepto swung from -25 to 42 and ended at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3</a:t>
            </a:r>
          </a:p>
        </p:txBody>
      </p:sp>
      <p:pic>
        <p:nvPicPr>
          <p:cNvPr id="8" name="Picture 7" descr="deck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91640"/>
            <a:ext cx="7315200" cy="4206240"/>
          </a:xfrm>
          <a:prstGeom prst="rect">
            <a:avLst/>
          </a:prstGeom>
        </p:spPr>
      </p:pic>
      <p:pic>
        <p:nvPicPr>
          <p:cNvPr id="9" name="Picture 8" descr="deck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691640"/>
            <a:ext cx="3474720" cy="38056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0" y="562356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</a:rPr>
              <a:t>Best minus worst NPS in each quarter. The gap has not closed.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C0000"/>
                </a:solidFill>
              </a:rPr>
              <a:t>DRIVER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</a:rPr>
              <a:t>Fees and prices lead the complaints at Blinkit (21%) and Instamart (26%), but quality and freshness lead at Zepto (21%)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4</a:t>
            </a:r>
          </a:p>
        </p:txBody>
      </p:sp>
      <p:pic>
        <p:nvPicPr>
          <p:cNvPr id="8" name="Picture 7" descr="deck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91640"/>
            <a:ext cx="5852160" cy="4058756"/>
          </a:xfrm>
          <a:prstGeom prst="rect">
            <a:avLst/>
          </a:prstGeom>
        </p:spPr>
      </p:pic>
      <p:pic>
        <p:nvPicPr>
          <p:cNvPr id="9" name="Picture 8" descr="deck_he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91640"/>
            <a:ext cx="4937760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89788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</a:rPr>
              <a:t>Share of tagged detractor reviews, Jul to Sep 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5897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</a:rPr>
              <a:t>NPS points lost to each driver, per app (all reviews).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C0000"/>
                </a:solidFill>
              </a:rPr>
              <a:t>WHERE THE GAP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</a:rPr>
              <a:t>Blinkit's 34.5 point lead over Zepto is 14.2 points of 5 star reviews, then 6.0 from quality and freshness and 4.4 from missing or wrong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Source: Google Play reviews, India, English, 1,112,946 reviews. Bars sum to the gap; driver bars carry up to ±1.0 points of sampling error.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5</a:t>
            </a:r>
          </a:p>
        </p:txBody>
      </p:sp>
      <p:pic>
        <p:nvPicPr>
          <p:cNvPr id="8" name="Picture 7" descr="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102412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C0000"/>
                </a:solidFill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</a:rPr>
              <a:t>Fixing quality and freshness, missing or wrong items and support and rider behaviour at Zepto is worth up to 13.8 of the 34.5 NPS points to Blinkit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603504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CC0000"/>
                </a:solidFill>
              </a:rPr>
              <a:t>6.0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7830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1. Quality and freshness (±1.0)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1488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333333"/>
                </a:solidFill>
              </a:rPr>
              <a:t>Check expiry and condition of perishables at packing, and pull items that get repeat complaints.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063240"/>
            <a:ext cx="603504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CC0000"/>
                </a:solidFill>
              </a:rPr>
              <a:t>4.4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1546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2. Missing or wrong items (±0.9)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520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333333"/>
                </a:solidFill>
              </a:rPr>
              <a:t>Add a pick and pack check, and require proof of drop before an order can be marked delivered.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434840"/>
            <a:ext cx="603504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CC0000"/>
                </a:solidFill>
              </a:rPr>
              <a:t>3.5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526279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3. Support and rider behaviour (±0.9)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8920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333333"/>
                </a:solidFill>
              </a:rPr>
              <a:t>Give a human agent path after the bot, shorten the first human reply, and coach riders on conduct.</a:t>
            </a:r>
          </a:p>
        </p:txBody>
      </p:sp>
      <p:pic>
        <p:nvPicPr>
          <p:cNvPr id="20" name="Picture 19" descr="deck_stak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91640"/>
            <a:ext cx="4754880" cy="39057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9436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</a:rPr>
              <a:t>Points at stake are the extra NPS points Zepto loses to each driver compared with Blinkit in Jul to Sep 2026. Matching the leader's rate would recover them. The ± is sampling error from the tagged sample.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C0000"/>
                </a:solidFill>
              </a:rPr>
              <a:t>METHOD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</a:rPr>
              <a:t>The numbers are a review based proxy for NPS, tagged by a model and checked for consistency, not yet against human labels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CC0000"/>
                </a:solidFill>
              </a:rP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0312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</a:rPr>
              <a:t>Promoter 5 stars, passive 4, detractor 1 to 3. 1,112,946 reviews over 21 months.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</a:rPr>
              <a:t>21,000 detractor reviews (1,000 per app per quarter, 4 or more words) tagged to 8 complaint drivers by Claude in an interactive session.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</a:rPr>
              <a:t>Two independent tagging passes agreed on 96% of 100 reviews (kappa 0.954).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</a:rPr>
              <a:t>A keyword list agrees with the model tags on 52% (kappa 0.46).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</a:rPr>
              <a:t>The waterfall splits the 34.5 point gap exactly.</a:t>
            </a:r>
          </a:p>
        </p:txBody>
      </p:sp>
      <p:pic>
        <p:nvPicPr>
          <p:cNvPr id="10" name="Picture 9" descr="deck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303520" cy="2272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4069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CC0000"/>
                </a:solidFill>
              </a:rPr>
              <a:t>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48056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</a:rPr>
              <a:t>Review based proxy, not survey NPS. Reviewers skew negative.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</a:rPr>
              <a:t>Play Store and English only. Tags not yet checked against human labels.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</a:rPr>
              <a:t>Driver bars carry up to ±1.0 points of sampling error, and Blinkit's lead over second place is inside its margin.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