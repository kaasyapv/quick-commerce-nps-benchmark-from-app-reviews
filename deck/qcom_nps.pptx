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05840" cy="73152"/>
          </a:xfrm>
          <a:prstGeom prst="rect">
            <a:avLst/>
          </a:prstGeom>
          <a:solidFill>
            <a:srgbClr val="BB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000" b="1">
                <a:solidFill>
                  <a:srgbClr val="FFFFFF"/>
                </a:solidFill>
              </a:rPr>
              <a:t>Quick-Commerce NPS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BBD3EA"/>
                </a:solidFill>
              </a:rPr>
              <a:t>What 1.1 million Google Play reviews say about Blinkit, Zepto and Swiggy Instamart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1,112,946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57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BBD3EA"/>
                </a:solidFill>
              </a:rPr>
              <a:t>public reviews, Jan 2025 to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452628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21,000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5257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BBD3EA"/>
                </a:solidFill>
              </a:rPr>
              <a:t>detractor reviews tagged to 8 complaint drivers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52628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34.5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257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BBD3EA"/>
                </a:solidFill>
              </a:rPr>
              <a:t>NPS gap, Blinkit vs Zepto, Jul to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BBD3EA"/>
                </a:solidFill>
              </a:rPr>
              <a:t>Sri Kaasyap Vepa  |  A review based NPS proxy with a 95% margin of error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0F2A43"/>
                </a:solidFill>
              </a:rPr>
              <a:t>Blinkit leads Zepto by 34.5 NPS points in Jul to Sep 2026, and quality and freshness and missing or wrong items explain 10.3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BB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</a:rPr>
              <a:t>Blinkit, Jul to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F4E79"/>
                </a:solidFill>
              </a:rPr>
              <a:t>44.4  (±0.5)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755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</a:rPr>
              <a:t>Instamart, Jul to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057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F4E79"/>
                </a:solidFill>
              </a:rPr>
              <a:t>43.8  (±1.1)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755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</a:rPr>
              <a:t>Zepto, Jul to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057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1F4E79"/>
                </a:solidFill>
              </a:rPr>
              <a:t>10.0  (±1.3)</a:t>
            </a:r>
          </a:p>
        </p:txBody>
      </p:sp>
      <p:pic>
        <p:nvPicPr>
          <p:cNvPr id="17" name="Picture 16" descr="deck_la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108960"/>
            <a:ext cx="5669280" cy="33661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75120" y="320040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</a:rPr>
              <a:t>The 34.5 point gap: 14.2 from more 5 star reviews at Blinkit, 20.3 from heavier complaints at Zepto.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</a:rPr>
              <a:t>Biggest complaint gaps: quality and freshness 6.0, missing or wrong items 4.4, support and rider behaviour 3.5 points.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</a:rPr>
              <a:t>The ranking holds in 7 of 7 quarters when 3 stars count as passive. First place leads by 0.7 points against ±1.2, so treat it as a tie.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</a:rPr>
              <a:t>NPS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0F2A43"/>
                </a:solidFill>
              </a:rPr>
              <a:t>Blinkit and Instamart stayed between 34 and 56 NPS points for 21 months while Zepto swung from -25 to 42 and ended at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BB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3</a:t>
            </a:r>
          </a:p>
        </p:txBody>
      </p:sp>
      <p:pic>
        <p:nvPicPr>
          <p:cNvPr id="8" name="Picture 7" descr="deck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7315200" cy="4206240"/>
          </a:xfrm>
          <a:prstGeom prst="rect">
            <a:avLst/>
          </a:prstGeom>
        </p:spPr>
      </p:pic>
      <p:pic>
        <p:nvPicPr>
          <p:cNvPr id="9" name="Picture 8" descr="deck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91640"/>
            <a:ext cx="3474720" cy="3805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562356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</a:rPr>
              <a:t>Best minus worst NPS in each quarter. The gap has not closed.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</a:rPr>
              <a:t>DRIVER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0F2A43"/>
                </a:solidFill>
              </a:rPr>
              <a:t>Fees and prices lead the complaints at Blinkit (21%) and Instamart (26%), but quality and freshness lead at Zepto (21%)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BB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4</a:t>
            </a:r>
          </a:p>
        </p:txBody>
      </p:sp>
      <p:pic>
        <p:nvPicPr>
          <p:cNvPr id="8" name="Picture 7" descr="deck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5852160" cy="4058756"/>
          </a:xfrm>
          <a:prstGeom prst="rect">
            <a:avLst/>
          </a:prstGeom>
        </p:spPr>
      </p:pic>
      <p:pic>
        <p:nvPicPr>
          <p:cNvPr id="9" name="Picture 8" descr="deck_h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91640"/>
            <a:ext cx="493776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89788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</a:rPr>
              <a:t>Share of tagged detractor reviews, Jul to Sep 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897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</a:rPr>
              <a:t>NPS points lost to each driver, per app (all reviews).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</a:rPr>
              <a:t>WHERE THE GAP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0F2A43"/>
                </a:solidFill>
              </a:rPr>
              <a:t>Blinkit's 34.5 point lead over Zepto is 14.2 points of 5 star reviews, then 6.0 from quality and freshness and 4.4 from missing or wrong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BB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Source: Google Play reviews, India, English, 1,112,946 reviews. Bars sum to the gap; driver bars carry up to ±1.0 points of sampling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5</a:t>
            </a:r>
          </a:p>
        </p:txBody>
      </p:sp>
      <p:pic>
        <p:nvPicPr>
          <p:cNvPr id="8" name="Picture 7" descr="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10241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0F2A43"/>
                </a:solidFill>
              </a:rPr>
              <a:t>Fixing quality and freshness, missing or wrong items and support and rider behaviour at Zepto is worth up to 13.8 of the 34.5 NPS points to Blinkit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BB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1F4E79"/>
                </a:solidFill>
              </a:rPr>
              <a:t>6.0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7830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22222"/>
                </a:solidFill>
              </a:rPr>
              <a:t>1. Quality and freshness (±1.0)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1488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222222"/>
                </a:solidFill>
              </a:rPr>
              <a:t>Check expiry and condition of perishables at packing, and pull items that get repeat complaints.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632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1F4E79"/>
                </a:solidFill>
              </a:rPr>
              <a:t>4.4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546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22222"/>
                </a:solidFill>
              </a:rPr>
              <a:t>2. Missing or wrong items (±0.9)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20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222222"/>
                </a:solidFill>
              </a:rPr>
              <a:t>Add a pick and pack check, and require proof of drop before an order can be marked delivered.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4348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1F4E79"/>
                </a:solidFill>
              </a:rPr>
              <a:t>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526279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22222"/>
                </a:solidFill>
              </a:rPr>
              <a:t>3. Support and rider behaviour (±0.9)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8920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222222"/>
                </a:solidFill>
              </a:rPr>
              <a:t>Give a human agent path after the bot, shorten the first human reply, and coach riders on conduct.</a:t>
            </a:r>
          </a:p>
        </p:txBody>
      </p:sp>
      <p:pic>
        <p:nvPicPr>
          <p:cNvPr id="20" name="Picture 19" descr="deck_sta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91640"/>
            <a:ext cx="4754880" cy="39057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</a:rPr>
              <a:t>Points at stake are the extra NPS points Zepto loses to each driver compared with Blinkit in Jul to Sep 2026. Matching the leader's rate would recover them. The ± is sampling error from the tagged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</a:rPr>
              <a:t>METHOD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0F2A43"/>
                </a:solidFill>
              </a:rPr>
              <a:t>The numbers are a review based proxy for NPS, tagged by a model and checked for consistency, not yet against human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BB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4E79"/>
                </a:solidFill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Promoter 5 stars, passive 4, detractor 1 to 3. 1,112,946 reviews over 21 months.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21,000 detractor reviews (1,000 per app per quarter, 4 or more words) tagged to 8 complaint drivers by Claude in an interactive session.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Two independent tagging passes agreed on 96% of 100 reviews (kappa 0.954).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 keyword list agrees with the model tags on 52% (kappa 0.46).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The waterfall splits the 34.5 point gap exactly.</a:t>
            </a:r>
          </a:p>
        </p:txBody>
      </p:sp>
      <p:pic>
        <p:nvPicPr>
          <p:cNvPr id="10" name="Picture 9" descr="deck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2272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069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4E79"/>
                </a:solidFill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48056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</a:rPr>
              <a:t>Review based proxy, not survey NPS. Reviewers skew negative.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</a:rPr>
              <a:t>Play Store and English only. Tags not yet checked against human labels.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</a:rPr>
              <a:t>Driver bars carry up to ±1.0 points of sampling error, and Blinkit's lead over second place is inside its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